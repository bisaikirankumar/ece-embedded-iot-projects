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embeddedFontLst>
    <p:embeddedFont>
      <p:font typeface="Heebo Light" pitchFamily="2" charset="-79"/>
      <p:regular r:id="rId12"/>
      <p:bold r:id="rId13"/>
    </p:embeddedFont>
    <p:embeddedFont>
      <p:font typeface="Impact" panose="020B0806030902050204" pitchFamily="34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3129a9127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g3f3129a9127_2_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3f3129a9127_2_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3129a9127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3f3129a9127_2_1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3f3129a9127_2_1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3129a9127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g3f3129a9127_2_3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f3129a9127_2_3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3129a9127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f3129a9127_2_7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f3129a9127_2_7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129a9127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f3129a9127_2_8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f3129a9127_2_8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3129a9127_2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f3129a9127_2_11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f3129a9127_2_11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3129a9127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f3129a9127_2_13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f3129a9127_2_13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3129a91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3129a91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/>
          <p:nvPr/>
        </p:nvSpPr>
        <p:spPr>
          <a:xfrm>
            <a:off x="3925119" y="714449"/>
            <a:ext cx="1326654" cy="266402"/>
          </a:xfrm>
          <a:prstGeom prst="roundRect">
            <a:avLst>
              <a:gd name="adj" fmla="val 17880"/>
            </a:avLst>
          </a:prstGeom>
          <a:solidFill>
            <a:srgbClr val="1E0C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4010174" y="756940"/>
            <a:ext cx="1613743" cy="181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850"/>
              <a:buFont typeface="Heebo Light"/>
              <a:buNone/>
            </a:pPr>
            <a:r>
              <a:rPr lang="en-GB" sz="8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INTERNSHIP PROJECT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3925119" y="1037555"/>
            <a:ext cx="4722763" cy="17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750"/>
              <a:buFont typeface="Montserrat"/>
              <a:buNone/>
            </a:pPr>
            <a:r>
              <a:rPr lang="en-GB" sz="275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IoT-Based Industrial Machine Monitoring and Cable Fault Visualization Using ESP8266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3925119" y="3022104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Heebo Light"/>
              <a:buNone/>
            </a:pPr>
            <a:r>
              <a:rPr lang="en-GB" sz="110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Embedded Systems Engineering · ESP8266 NodeMCU Platform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4385816" y="3585567"/>
            <a:ext cx="4120307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Heebo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496119" y="405482"/>
            <a:ext cx="1017687" cy="207690"/>
          </a:xfrm>
          <a:prstGeom prst="roundRect">
            <a:avLst>
              <a:gd name="adj" fmla="val 18993"/>
            </a:avLst>
          </a:prstGeom>
          <a:noFill/>
          <a:ln>
            <a:noFill/>
          </a:ln>
          <a:effectLst>
            <a:outerShdw blurRad="101600" dist="50800" dir="16200000" algn="bl" rotWithShape="0">
              <a:srgbClr val="481C9E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566514" y="440680"/>
            <a:ext cx="1334095" cy="137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81C9E"/>
              </a:buClr>
              <a:buSzPts val="700"/>
              <a:buFont typeface="Heebo Light"/>
              <a:buNone/>
            </a:pPr>
            <a:r>
              <a:rPr lang="en-GB" sz="700" b="0" i="0" u="none" strike="noStrike" cap="none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PROJECT OVERVIEW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496119" y="652016"/>
            <a:ext cx="5257800" cy="36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300"/>
              <a:buFont typeface="Montserrat"/>
              <a:buNone/>
            </a:pPr>
            <a:r>
              <a:rPr lang="en-GB" sz="230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Objectives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273969"/>
            <a:ext cx="4692104" cy="265881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/>
          <p:nvPr/>
        </p:nvSpPr>
        <p:spPr>
          <a:xfrm>
            <a:off x="5479331" y="1293540"/>
            <a:ext cx="1924645" cy="18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150"/>
              <a:buFont typeface="Montserrat"/>
              <a:buNone/>
            </a:pPr>
            <a:r>
              <a:rPr lang="en-GB" sz="115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The Challenge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5479331" y="1574155"/>
            <a:ext cx="3173239" cy="109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2880" marR="0" lvl="0" indent="-18288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 Light"/>
              <a:buChar char="•"/>
            </a:pPr>
            <a:r>
              <a:rPr lang="en-GB" sz="90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Industrial machines operate without real-time temperature or vibration monitoring, leading to undetected failures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880" marR="0" lvl="0" indent="-18288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 Light"/>
              <a:buChar char="•"/>
            </a:pPr>
            <a:r>
              <a:rPr lang="en-GB" sz="90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Cable faults in industrial electrical systems are difficult to identify and monitor in real time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880" marR="0" lvl="0" indent="-18288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 Light"/>
              <a:buChar char="•"/>
            </a:pPr>
            <a:r>
              <a:rPr lang="en-GB" sz="90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Manual inspection is slow, costly, and unsafe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5479331" y="2769394"/>
            <a:ext cx="1924645" cy="18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150"/>
              <a:buFont typeface="Montserrat"/>
              <a:buNone/>
            </a:pPr>
            <a:r>
              <a:rPr lang="en-GB" sz="115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Project Objectives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5479331" y="3050009"/>
            <a:ext cx="3173239" cy="92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2880" marR="0" lvl="0" indent="-18288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 Light"/>
              <a:buChar char="•"/>
            </a:pPr>
            <a:r>
              <a:rPr lang="en-GB" sz="90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Monitor machine health parameters continuously via IoT sensors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880" marR="0" lvl="0" indent="-18288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 Light"/>
              <a:buChar char="•"/>
            </a:pPr>
            <a:r>
              <a:rPr lang="en-GB" sz="90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Detect and display cable fault levels in real time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880" marR="0" lvl="0" indent="-18288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 Light"/>
              <a:buChar char="•"/>
            </a:pPr>
            <a:r>
              <a:rPr lang="en-GB" sz="90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Deliver a live web dashboard with remote alarm acknowledgment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/>
          <p:nvPr/>
        </p:nvSpPr>
        <p:spPr>
          <a:xfrm>
            <a:off x="496119" y="430560"/>
            <a:ext cx="738187" cy="197644"/>
          </a:xfrm>
          <a:prstGeom prst="roundRect">
            <a:avLst>
              <a:gd name="adj" fmla="val 19205"/>
            </a:avLst>
          </a:prstGeom>
          <a:noFill/>
          <a:ln>
            <a:noFill/>
          </a:ln>
          <a:effectLst>
            <a:outerShdw blurRad="101600" dist="50800" dir="16200000" algn="bl" rotWithShape="0">
              <a:srgbClr val="481C9E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8"/>
          <p:cNvSpPr/>
          <p:nvPr/>
        </p:nvSpPr>
        <p:spPr>
          <a:xfrm>
            <a:off x="563835" y="464418"/>
            <a:ext cx="1059954" cy="12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1C9E"/>
              </a:buClr>
              <a:buSzPts val="700"/>
              <a:buFont typeface="Heebo Light"/>
              <a:buNone/>
            </a:pPr>
            <a:r>
              <a:rPr lang="en-GB" sz="700" b="0" i="0" u="none" strike="noStrike" cap="none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COMPONENTS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496119" y="664146"/>
            <a:ext cx="4277246" cy="35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200"/>
              <a:buFont typeface="Montserrat"/>
              <a:buNone/>
            </a:pPr>
            <a:r>
              <a:rPr lang="en-GB" sz="220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Hardware &amp; Software Stack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496119" y="1242045"/>
            <a:ext cx="1869281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100"/>
              <a:buFont typeface="Montserrat"/>
              <a:buNone/>
            </a:pPr>
            <a:r>
              <a:rPr lang="en-GB" sz="110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Hardware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519758"/>
            <a:ext cx="1924050" cy="84571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/>
          <p:nvPr/>
        </p:nvSpPr>
        <p:spPr>
          <a:xfrm>
            <a:off x="680517" y="1647006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lang="en-GB" sz="11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ESP8266 NodeMCU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680517" y="1913483"/>
            <a:ext cx="1612404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850"/>
              <a:buFont typeface="Heebo Light"/>
              <a:buNone/>
            </a:pPr>
            <a:r>
              <a:rPr lang="en-GB" sz="8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Wi-Fi enabled microcontroller — core processing unit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0135" y="1519758"/>
            <a:ext cx="1924050" cy="8457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/>
          <p:nvPr/>
        </p:nvSpPr>
        <p:spPr>
          <a:xfrm>
            <a:off x="2694533" y="1647006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lang="en-GB" sz="11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DHT11 Sensor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2694533" y="1913483"/>
            <a:ext cx="1612404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850"/>
              <a:buFont typeface="Heebo Light"/>
              <a:buNone/>
            </a:pPr>
            <a:r>
              <a:rPr lang="en-GB" sz="8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Temperature &amp; humidity monitoring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119" y="2455441"/>
            <a:ext cx="1924050" cy="118459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/>
          <p:nvPr/>
        </p:nvSpPr>
        <p:spPr>
          <a:xfrm>
            <a:off x="680517" y="2582689"/>
            <a:ext cx="1612404" cy="35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lang="en-GB" sz="11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SW-420 Vibration Sensor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680517" y="3025676"/>
            <a:ext cx="1612404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850"/>
              <a:buFont typeface="Heebo Light"/>
              <a:buNone/>
            </a:pPr>
            <a:r>
              <a:rPr lang="en-GB" sz="8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Machine vibration anomaly detection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0135" y="2455441"/>
            <a:ext cx="1924050" cy="118459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2694533" y="2582689"/>
            <a:ext cx="1612404" cy="35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lang="en-GB" sz="11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Potentiometer + Push Button + Buzzer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2694533" y="3025676"/>
            <a:ext cx="1612404" cy="487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850"/>
              <a:buFont typeface="Heebo Light"/>
              <a:buNone/>
            </a:pPr>
            <a:r>
              <a:rPr lang="en-GB" sz="8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Cable fault simulation, alarm acknowledgment, and alert output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4714577" y="1242045"/>
            <a:ext cx="1869281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100"/>
              <a:buFont typeface="Montserrat"/>
              <a:buNone/>
            </a:pPr>
            <a:r>
              <a:rPr lang="en-GB" sz="110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714577" y="1519758"/>
            <a:ext cx="1924050" cy="1255514"/>
          </a:xfrm>
          <a:prstGeom prst="roundRect">
            <a:avLst>
              <a:gd name="adj" fmla="val 3779"/>
            </a:avLst>
          </a:prstGeom>
          <a:solidFill>
            <a:srgbClr val="31136C"/>
          </a:solidFill>
          <a:ln w="9525" cap="flat" cmpd="sng">
            <a:solidFill>
              <a:srgbClr val="4A2C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4832300" y="1637481"/>
            <a:ext cx="338882" cy="338882"/>
          </a:xfrm>
          <a:prstGeom prst="ellipse">
            <a:avLst/>
          </a:prstGeom>
          <a:solidFill>
            <a:srgbClr val="581C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Google Shape;103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5467" y="1730648"/>
            <a:ext cx="152474" cy="152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/>
          <p:nvPr/>
        </p:nvSpPr>
        <p:spPr>
          <a:xfrm>
            <a:off x="4832300" y="2066330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lang="en-GB" sz="11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Arduino IDE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832300" y="2332806"/>
            <a:ext cx="1688604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850"/>
              <a:buFont typeface="Heebo Light"/>
              <a:buNone/>
            </a:pPr>
            <a:r>
              <a:rPr lang="en-GB" sz="8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Firmware development &amp; serial upload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6728594" y="1519758"/>
            <a:ext cx="1924050" cy="1255514"/>
          </a:xfrm>
          <a:prstGeom prst="roundRect">
            <a:avLst>
              <a:gd name="adj" fmla="val 3779"/>
            </a:avLst>
          </a:prstGeom>
          <a:solidFill>
            <a:srgbClr val="31136C"/>
          </a:solidFill>
          <a:ln w="9525" cap="flat" cmpd="sng">
            <a:solidFill>
              <a:srgbClr val="4A2C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6846317" y="1637481"/>
            <a:ext cx="338882" cy="338882"/>
          </a:xfrm>
          <a:prstGeom prst="ellipse">
            <a:avLst/>
          </a:prstGeom>
          <a:solidFill>
            <a:srgbClr val="581C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39483" y="1730648"/>
            <a:ext cx="152474" cy="152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6846317" y="2066330"/>
            <a:ext cx="1474738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lang="en-GB" sz="11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ESP8266 Web Server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6846317" y="2332806"/>
            <a:ext cx="1688604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850"/>
              <a:buFont typeface="Heebo Light"/>
              <a:buNone/>
            </a:pPr>
            <a:r>
              <a:rPr lang="en-GB" sz="8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Embedded HTTP server for live data streaming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714577" y="2865239"/>
            <a:ext cx="3938067" cy="1093143"/>
          </a:xfrm>
          <a:prstGeom prst="roundRect">
            <a:avLst>
              <a:gd name="adj" fmla="val 4340"/>
            </a:avLst>
          </a:prstGeom>
          <a:solidFill>
            <a:srgbClr val="31136C"/>
          </a:solidFill>
          <a:ln w="9525" cap="flat" cmpd="sng">
            <a:solidFill>
              <a:srgbClr val="4A2C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4832300" y="2982962"/>
            <a:ext cx="338882" cy="338882"/>
          </a:xfrm>
          <a:prstGeom prst="ellipse">
            <a:avLst/>
          </a:prstGeom>
          <a:solidFill>
            <a:srgbClr val="581C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25467" y="3076129"/>
            <a:ext cx="152474" cy="1524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4832300" y="3411810"/>
            <a:ext cx="1627212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100"/>
              <a:buFont typeface="Montserrat"/>
              <a:buNone/>
            </a:pPr>
            <a:r>
              <a:rPr lang="en-GB" sz="11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HTML / CSS Dashboard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832300" y="3678287"/>
            <a:ext cx="3702621" cy="16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850"/>
              <a:buFont typeface="Heebo Light"/>
              <a:buNone/>
            </a:pPr>
            <a:r>
              <a:rPr lang="en-GB" sz="8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Responsive browser-based monitoring interface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63203" y="4278957"/>
            <a:ext cx="7671718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Heebo"/>
              <a:buNone/>
            </a:pP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496119" y="440754"/>
            <a:ext cx="688851" cy="168325"/>
          </a:xfrm>
          <a:prstGeom prst="roundRect">
            <a:avLst>
              <a:gd name="adj" fmla="val 19898"/>
            </a:avLst>
          </a:prstGeom>
          <a:noFill/>
          <a:ln>
            <a:noFill/>
          </a:ln>
          <a:effectLst>
            <a:outerShdw blurRad="101600" dist="50800" dir="16200000" algn="bl" rotWithShape="0">
              <a:srgbClr val="481C9E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555873" y="470595"/>
            <a:ext cx="1026542" cy="10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81C9E"/>
              </a:buClr>
              <a:buSzPts val="600"/>
              <a:buFont typeface="Heebo Light"/>
              <a:buNone/>
            </a:pPr>
            <a:r>
              <a:rPr lang="en-GB" sz="600" b="0" i="0" u="none" strike="noStrike" cap="none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ARCHITECTURE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496119" y="637059"/>
            <a:ext cx="2993231" cy="311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950"/>
              <a:buFont typeface="Montserrat"/>
              <a:buNone/>
            </a:pPr>
            <a:r>
              <a:rPr lang="en-GB" sz="195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2407" y="1053629"/>
            <a:ext cx="6339185" cy="290125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6256361" y="3151294"/>
            <a:ext cx="1190142" cy="45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00"/>
              <a:buFont typeface="Montserrat"/>
              <a:buNone/>
            </a:pPr>
            <a:r>
              <a:rPr lang="en-GB" sz="14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Alarm &amp; Buzzer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4756456" y="3151294"/>
            <a:ext cx="1190143" cy="45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00"/>
              <a:buFont typeface="Montserrat"/>
              <a:buNone/>
            </a:pPr>
            <a:r>
              <a:rPr lang="en-GB" sz="14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Web Dashboard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3264702" y="3265927"/>
            <a:ext cx="1190142" cy="2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00"/>
              <a:buFont typeface="Montserrat"/>
              <a:buNone/>
            </a:pPr>
            <a:r>
              <a:rPr lang="en-GB" sz="14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ESP8266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1740341" y="3265927"/>
            <a:ext cx="1190142" cy="2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400"/>
              <a:buFont typeface="Montserrat"/>
              <a:buNone/>
            </a:pPr>
            <a:r>
              <a:rPr lang="en-GB" sz="14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Sensors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88950" y="4059950"/>
            <a:ext cx="83661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750"/>
              <a:buFont typeface="Heebo Light"/>
              <a:buNone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All sensor data is aggregated by the ESP8266, transmitted over Wi-Fi, and rendered on a local web dashboard. Threshold breaches trigger an audible alarm, acknowledged via push button.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819969" y="4343177"/>
            <a:ext cx="7728272" cy="27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Heebo"/>
              <a:buNone/>
            </a:pP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>
            <a:off x="496119" y="417909"/>
            <a:ext cx="1121048" cy="228451"/>
          </a:xfrm>
          <a:prstGeom prst="roundRect">
            <a:avLst>
              <a:gd name="adj" fmla="val 18570"/>
            </a:avLst>
          </a:prstGeom>
          <a:noFill/>
          <a:ln>
            <a:noFill/>
          </a:ln>
          <a:effectLst>
            <a:outerShdw blurRad="101600" dist="50800" dir="16200000" algn="bl" rotWithShape="0">
              <a:srgbClr val="481C9E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0"/>
          <p:cNvSpPr/>
          <p:nvPr/>
        </p:nvSpPr>
        <p:spPr>
          <a:xfrm>
            <a:off x="571872" y="455786"/>
            <a:ext cx="1426741" cy="15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81C9E"/>
              </a:buClr>
              <a:buSzPts val="750"/>
              <a:buFont typeface="Heebo Light"/>
              <a:buNone/>
            </a:pPr>
            <a:r>
              <a:rPr lang="en-GB" sz="750" b="0" i="0" u="none" strike="noStrike" cap="none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WORKING PRINCIPLE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496119" y="691307"/>
            <a:ext cx="4565303" cy="394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450"/>
              <a:buFont typeface="Montserrat"/>
              <a:buNone/>
            </a:pPr>
            <a:r>
              <a:rPr lang="en-GB" sz="245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How the System Operates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254472"/>
            <a:ext cx="252487" cy="25248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/>
          <p:nvPr/>
        </p:nvSpPr>
        <p:spPr>
          <a:xfrm>
            <a:off x="496119" y="1647453"/>
            <a:ext cx="1940942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Montserrat"/>
              <a:buNone/>
            </a:pPr>
            <a:r>
              <a:rPr lang="en-GB" sz="12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Temperature Monitoring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496119" y="1912144"/>
            <a:ext cx="2623542" cy="572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None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DHT11 samples ambient and machine temperature at fixed intervals, transmitted live to dashboard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0154" y="1254472"/>
            <a:ext cx="252487" cy="25248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/>
          <p:nvPr/>
        </p:nvSpPr>
        <p:spPr>
          <a:xfrm>
            <a:off x="3260154" y="1647453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Montserrat"/>
              <a:buNone/>
            </a:pPr>
            <a:r>
              <a:rPr lang="en-GB" sz="12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Vibration Detection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3260154" y="1912144"/>
            <a:ext cx="2623617" cy="572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None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SW-420 detects abnormal mechanical vibration; threshold breach flags machine anomaly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4265" y="1254472"/>
            <a:ext cx="252487" cy="25248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/>
          <p:nvPr/>
        </p:nvSpPr>
        <p:spPr>
          <a:xfrm>
            <a:off x="6024265" y="1647453"/>
            <a:ext cx="1928143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Montserrat"/>
              <a:buNone/>
            </a:pPr>
            <a:r>
              <a:rPr lang="en-GB" sz="12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Cable Fault Visualization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6024265" y="1912144"/>
            <a:ext cx="2623617" cy="763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None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Potentiometer simulates different cable fault conditions, and the ESP8266 visualizes the corresponding fault level on the web dashboard.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6119" y="2900809"/>
            <a:ext cx="252487" cy="25248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>
            <a:off x="496119" y="3293790"/>
            <a:ext cx="1638970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Montserrat"/>
              <a:buNone/>
            </a:pPr>
            <a:r>
              <a:rPr lang="en-GB" sz="12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Live Web Dashboard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496119" y="3558480"/>
            <a:ext cx="2623542" cy="381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None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Built-in web server hosts HTML/CSS interface — accessible from any browser on the network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2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60154" y="2900809"/>
            <a:ext cx="252487" cy="25248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/>
          <p:nvPr/>
        </p:nvSpPr>
        <p:spPr>
          <a:xfrm>
            <a:off x="3260154" y="3293790"/>
            <a:ext cx="1602209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1200"/>
              <a:buFont typeface="Montserrat"/>
              <a:buNone/>
            </a:pPr>
            <a:r>
              <a:rPr lang="en-GB" sz="120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Alarm Acknowledge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3260154" y="3558480"/>
            <a:ext cx="2623617" cy="381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None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Buzzer triggers on fault; push button silences alarm and logs acknowledgment event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906289" y="4210869"/>
            <a:ext cx="7615386" cy="381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Heebo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496119" y="390599"/>
            <a:ext cx="520675" cy="207690"/>
          </a:xfrm>
          <a:prstGeom prst="roundRect">
            <a:avLst>
              <a:gd name="adj" fmla="val 18993"/>
            </a:avLst>
          </a:prstGeom>
          <a:noFill/>
          <a:ln>
            <a:noFill/>
          </a:ln>
          <a:effectLst>
            <a:outerShdw blurRad="101600" dist="50800" dir="16200000" algn="bl" rotWithShape="0">
              <a:srgbClr val="481C9E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566514" y="425797"/>
            <a:ext cx="837084" cy="137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481C9E"/>
              </a:buClr>
              <a:buSzPts val="700"/>
              <a:buFont typeface="Heebo Light"/>
              <a:buNone/>
            </a:pPr>
            <a:r>
              <a:rPr lang="en-GB" sz="700" b="0" i="0" u="none" strike="noStrike" cap="none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RESULTS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496119" y="637133"/>
            <a:ext cx="6667054" cy="36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300"/>
              <a:buFont typeface="Montserrat"/>
              <a:buNone/>
            </a:pPr>
            <a:r>
              <a:rPr lang="en-GB" sz="230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Dashboard Output &amp; System Performance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496119" y="1246956"/>
            <a:ext cx="2489225" cy="18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150"/>
              <a:buFont typeface="Montserrat"/>
              <a:buNone/>
            </a:pPr>
            <a:r>
              <a:rPr lang="en-GB" sz="115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Live Monitoring Parameters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496119" y="1539701"/>
            <a:ext cx="1917725" cy="1247105"/>
          </a:xfrm>
          <a:prstGeom prst="roundRect">
            <a:avLst>
              <a:gd name="adj" fmla="val 3954"/>
            </a:avLst>
          </a:prstGeom>
          <a:solidFill>
            <a:srgbClr val="0D0A2C">
              <a:alpha val="94901"/>
            </a:srgbClr>
          </a:solidFill>
          <a:ln w="14275" cap="flat" cmpd="sng">
            <a:solidFill>
              <a:srgbClr val="4A2C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627757" y="1671340"/>
            <a:ext cx="1467445" cy="18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Montserrat"/>
              <a:buNone/>
            </a:pPr>
            <a:r>
              <a:rPr lang="en-GB" sz="115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🌡️</a:t>
            </a:r>
            <a:r>
              <a:rPr lang="en-GB" sz="115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Temperature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627757" y="1956718"/>
            <a:ext cx="1654448" cy="515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 Light"/>
              <a:buNone/>
            </a:pPr>
            <a:r>
              <a:rPr lang="en-GB" sz="90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Real-time DHT11 readings displayed in °C with threshold alert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2511028" y="1539701"/>
            <a:ext cx="1917799" cy="1247105"/>
          </a:xfrm>
          <a:prstGeom prst="roundRect">
            <a:avLst>
              <a:gd name="adj" fmla="val 3954"/>
            </a:avLst>
          </a:prstGeom>
          <a:solidFill>
            <a:srgbClr val="0D0A2C">
              <a:alpha val="94901"/>
            </a:srgbClr>
          </a:solidFill>
          <a:ln w="14275" cap="flat" cmpd="sng">
            <a:solidFill>
              <a:srgbClr val="4A2C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2642667" y="1671340"/>
            <a:ext cx="1654522" cy="37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Montserrat"/>
              <a:buNone/>
            </a:pPr>
            <a:r>
              <a:rPr lang="en-GB" sz="115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⚡</a:t>
            </a:r>
            <a:r>
              <a:rPr lang="en-GB" sz="115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Cable Fault Visualization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2642667" y="2140148"/>
            <a:ext cx="1654522" cy="515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 Light"/>
              <a:buNone/>
            </a:pPr>
            <a:r>
              <a:rPr lang="en-GB" sz="90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Fault severity indicator based on potentiometer input simulation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496119" y="2883991"/>
            <a:ext cx="1917725" cy="1063675"/>
          </a:xfrm>
          <a:prstGeom prst="roundRect">
            <a:avLst>
              <a:gd name="adj" fmla="val 4636"/>
            </a:avLst>
          </a:prstGeom>
          <a:solidFill>
            <a:srgbClr val="0D0A2C">
              <a:alpha val="94901"/>
            </a:srgbClr>
          </a:solidFill>
          <a:ln w="14275" cap="flat" cmpd="sng">
            <a:solidFill>
              <a:srgbClr val="4A2C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627757" y="3015630"/>
            <a:ext cx="1467445" cy="18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Montserrat"/>
              <a:buNone/>
            </a:pPr>
            <a:r>
              <a:rPr lang="en-GB" sz="115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〰️</a:t>
            </a:r>
            <a:r>
              <a:rPr lang="en-GB" sz="115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Vibration Status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627757" y="3301008"/>
            <a:ext cx="1654448" cy="343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 Light"/>
              <a:buNone/>
            </a:pPr>
            <a:r>
              <a:rPr lang="en-GB" sz="90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Normal / Anomaly state from SW-420 sensor output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2511028" y="2883991"/>
            <a:ext cx="1917799" cy="1063675"/>
          </a:xfrm>
          <a:prstGeom prst="roundRect">
            <a:avLst>
              <a:gd name="adj" fmla="val 4636"/>
            </a:avLst>
          </a:prstGeom>
          <a:solidFill>
            <a:srgbClr val="0D0A2C">
              <a:alpha val="94901"/>
            </a:srgbClr>
          </a:solidFill>
          <a:ln w="14275" cap="flat" cmpd="sng">
            <a:solidFill>
              <a:srgbClr val="4A2C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2642667" y="3015630"/>
            <a:ext cx="1467445" cy="18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Montserrat"/>
              <a:buNone/>
            </a:pPr>
            <a:r>
              <a:rPr lang="en-GB" sz="115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🔔</a:t>
            </a:r>
            <a:r>
              <a:rPr lang="en-GB" sz="1150" b="0" i="0" u="none" strike="noStrike" cap="none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 Alarm Status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2642667" y="3301008"/>
            <a:ext cx="1654522" cy="515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 Light"/>
              <a:buNone/>
            </a:pPr>
            <a:r>
              <a:rPr lang="en-GB" sz="90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Active / Acknowledged state with push-button reset confirmation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4719935" y="1246956"/>
            <a:ext cx="2207716" cy="18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150"/>
              <a:buFont typeface="Montserrat"/>
              <a:buNone/>
            </a:pPr>
            <a:r>
              <a:rPr lang="en-GB" sz="115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Dashboard Screenshots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4719935" y="1527572"/>
            <a:ext cx="3932709" cy="689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650"/>
              </a:spcBef>
              <a:spcAft>
                <a:spcPts val="0"/>
              </a:spcAft>
              <a:buClr>
                <a:srgbClr val="DCD7E5"/>
              </a:buClr>
              <a:buSzPts val="900"/>
              <a:buFont typeface="Heebo Light"/>
              <a:buNone/>
            </a:pPr>
            <a:endParaRPr sz="900" b="0" u="none" strike="noStrike" cap="none" dirty="0">
              <a:solidFill>
                <a:schemeClr val="dk1"/>
              </a:solidFill>
              <a:highlight>
                <a:schemeClr val="accent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877565" y="4292798"/>
            <a:ext cx="7652965" cy="343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ebo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99C67-5498-3DDA-8CD8-0DC60FA67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174" y="1498227"/>
            <a:ext cx="4158369" cy="29256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/>
          <p:nvPr/>
        </p:nvSpPr>
        <p:spPr>
          <a:xfrm>
            <a:off x="496119" y="426839"/>
            <a:ext cx="755079" cy="223317"/>
          </a:xfrm>
          <a:prstGeom prst="roundRect">
            <a:avLst>
              <a:gd name="adj" fmla="val 18664"/>
            </a:avLst>
          </a:prstGeom>
          <a:noFill/>
          <a:ln>
            <a:noFill/>
          </a:ln>
          <a:effectLst>
            <a:outerShdw blurRad="101600" dist="50800" dir="16200000" algn="bl" rotWithShape="0">
              <a:srgbClr val="481C9E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570533" y="464046"/>
            <a:ext cx="1063451" cy="14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81C9E"/>
              </a:buClr>
              <a:buSzPts val="750"/>
              <a:buFont typeface="Heebo Light"/>
              <a:buNone/>
            </a:pPr>
            <a:r>
              <a:rPr lang="en-GB" sz="750" b="0" i="0" u="none" strike="noStrike" cap="none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CONCLUSION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496119" y="693539"/>
            <a:ext cx="5205859" cy="38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2400"/>
              <a:buFont typeface="Montserrat"/>
              <a:buNone/>
            </a:pPr>
            <a:r>
              <a:rPr lang="en-GB" sz="240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Key Takeaways &amp; Future Scope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496119" y="1352327"/>
            <a:ext cx="2007766" cy="1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200"/>
              <a:buFont typeface="Montserrat"/>
              <a:buNone/>
            </a:pPr>
            <a:r>
              <a:rPr lang="en-GB" sz="120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Advantages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496119" y="1654671"/>
            <a:ext cx="3924598" cy="63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3040" marR="0" lvl="0" indent="-19304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Char char="•"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Low-cost, scalable IoT architecture using ESP8266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3040" marR="0" lvl="0" indent="-19304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Char char="•"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Real-time remote monitoring without dedicated infrastructure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3040" marR="0" lvl="0" indent="-19304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Char char="•"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Immediate fault alerts with acknowledgment workflow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496119" y="2397175"/>
            <a:ext cx="2198712" cy="1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200"/>
              <a:buFont typeface="Montserrat"/>
              <a:buNone/>
            </a:pPr>
            <a:r>
              <a:rPr lang="en-GB" sz="120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Industrial Applications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496119" y="2699519"/>
            <a:ext cx="3924598" cy="63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3040" marR="0" lvl="0" indent="-19304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Char char="•"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Manufacturing floor machine health monitoring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3040" marR="0" lvl="0" indent="-19304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Char char="•"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Industrial electrical distribution monitoring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3040" marR="0" lvl="0" indent="-19304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Char char="•"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Smart factory predictive maintenance systems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4728046" y="1352327"/>
            <a:ext cx="2007766" cy="19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0F4"/>
              </a:buClr>
              <a:buSzPts val="1200"/>
              <a:buFont typeface="Montserrat"/>
              <a:buNone/>
            </a:pPr>
            <a:r>
              <a:rPr lang="en-GB" sz="1200" b="0" i="0" u="none" strike="noStrike" cap="none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4555" y="1674316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/>
          <p:nvPr/>
        </p:nvSpPr>
        <p:spPr>
          <a:xfrm>
            <a:off x="5131073" y="1668214"/>
            <a:ext cx="3521571" cy="37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None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Integrate cloud platforms (AWS IoT / Blynk) for remote access beyond LAN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4555" y="2269629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/>
          <p:nvPr/>
        </p:nvSpPr>
        <p:spPr>
          <a:xfrm>
            <a:off x="5131073" y="2263527"/>
            <a:ext cx="3521571" cy="18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None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Add machine learning for predictive fault analysis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4555" y="2864941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/>
          <p:nvPr/>
        </p:nvSpPr>
        <p:spPr>
          <a:xfrm>
            <a:off x="5131073" y="2858839"/>
            <a:ext cx="3521571" cy="18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None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Expand sensor array: current, voltage, and acoustic sensors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4555" y="3460254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/>
          <p:nvPr/>
        </p:nvSpPr>
        <p:spPr>
          <a:xfrm>
            <a:off x="5131073" y="3454152"/>
            <a:ext cx="3521571" cy="18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D7E5"/>
              </a:buClr>
              <a:buSzPts val="950"/>
              <a:buFont typeface="Heebo Light"/>
              <a:buNone/>
            </a:pPr>
            <a:r>
              <a:rPr lang="en-GB" sz="950" b="0" i="0" u="none" strike="noStrike" cap="none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Deploy GSM/LTE module for offline industrial environments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899071" y="4215929"/>
            <a:ext cx="7624837" cy="37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Heebo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/>
        </p:nvSpPr>
        <p:spPr>
          <a:xfrm>
            <a:off x="1793700" y="1525050"/>
            <a:ext cx="55566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1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                       THANK YOU!</a:t>
            </a:r>
            <a:endParaRPr sz="31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1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1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Thank you for your valuable time.</a:t>
            </a:r>
            <a:endParaRPr sz="31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Microsoft Office PowerPoint</Application>
  <PresentationFormat>On-screen Show (16:9)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Montserrat</vt:lpstr>
      <vt:lpstr>Impact</vt:lpstr>
      <vt:lpstr>Heebo Light</vt:lpstr>
      <vt:lpstr>Arial</vt:lpstr>
      <vt:lpstr>Heebo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bisai.maheshkumar@gmail.com</cp:lastModifiedBy>
  <cp:revision>1</cp:revision>
  <dcterms:modified xsi:type="dcterms:W3CDTF">2026-07-21T12:06:52Z</dcterms:modified>
</cp:coreProperties>
</file>