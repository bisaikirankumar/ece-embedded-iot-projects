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Alice"/>
      <p:regular r:id="rId15"/>
    </p:embeddedFont>
    <p:embeddedFont>
      <p:font typeface="Lora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lice-regular.fntdata"/><Relationship Id="rId14" Type="http://schemas.openxmlformats.org/officeDocument/2006/relationships/slide" Target="slides/slide10.xml"/><Relationship Id="rId17" Type="http://schemas.openxmlformats.org/officeDocument/2006/relationships/font" Target="fonts/Lora-boldItalic.fntdata"/><Relationship Id="rId16" Type="http://schemas.openxmlformats.org/officeDocument/2006/relationships/font" Target="fonts/Lor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5233360" y="1546027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700"/>
              <a:buFont typeface="Alice"/>
              <a:buNone/>
            </a:pPr>
            <a:r>
              <a:rPr b="0" i="0" lang="en-US" sz="37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Smart EV Charging Station Optimizer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233360" y="2802930"/>
            <a:ext cx="629686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Dynamic Load Balancing via ESP32, Edge AI &amp; ThingsBoard IoT Cloud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33360" y="3676948"/>
            <a:ext cx="6296860" cy="1634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1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Project Lead</a:t>
            </a: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: B. Kiran Kumar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1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Specialization:</a:t>
            </a: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Smart Energy &amp; Edge Computing Solutions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1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Implementation:</a:t>
            </a: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Hardware-in-the-Loop Simulation &amp; Cloud Architecture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661475" y="661194"/>
            <a:ext cx="1888582" cy="287139"/>
          </a:xfrm>
          <a:prstGeom prst="roundRect">
            <a:avLst>
              <a:gd fmla="val 7899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774879" y="717848"/>
            <a:ext cx="2271358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PROBLEM STATEMENT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61475" y="1023938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700"/>
              <a:buFont typeface="Alice"/>
              <a:buNone/>
            </a:pPr>
            <a:r>
              <a:rPr b="0" i="0" lang="en-US" sz="37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Grid Instability Under Concurrent EV Charging Demand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525350" y="2488704"/>
            <a:ext cx="5476043" cy="2355453"/>
          </a:xfrm>
          <a:prstGeom prst="roundRect">
            <a:avLst>
              <a:gd fmla="val 1204" name="adj"/>
            </a:avLst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714357" y="2677716"/>
            <a:ext cx="509802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The Core Challenge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714357" y="3162002"/>
            <a:ext cx="5098029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Concurrent EV charging introduces severe grid-level peak loads, risking transformer overloads and power outages. A restricted local supply of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5 kW</a:t>
            </a:r>
            <a:r>
              <a:rPr b="0" i="0" lang="en-US" sz="1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is overwhelmed when three charging bays simultaneously demand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8 kW</a:t>
            </a:r>
            <a:r>
              <a:rPr b="0" i="0" lang="en-US" sz="1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, with incoming vehicle queues compounding stress.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332776" y="2677716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Design Objective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332776" y="3162002"/>
            <a:ext cx="5203794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Engineer a decentralized, intelligent controller that monitors, predicts, and dynamically optimizes per-bay power allocation — preventing grid trips while maintaining fair, efficient charging throughput.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61475" y="5056783"/>
            <a:ext cx="3496877" cy="1139924"/>
          </a:xfrm>
          <a:prstGeom prst="roundRect">
            <a:avLst>
              <a:gd fmla="val 2487" name="adj"/>
            </a:avLst>
          </a:prstGeom>
          <a:solidFill>
            <a:srgbClr val="FCFBF8"/>
          </a:solidFill>
          <a:ln cap="flat" cmpd="sng" w="25375">
            <a:solidFill>
              <a:srgbClr val="D6D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75881" y="5271195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5 kW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75881" y="5679877"/>
            <a:ext cx="306806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Local supply limit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347359" y="5056783"/>
            <a:ext cx="3496877" cy="1139924"/>
          </a:xfrm>
          <a:prstGeom prst="roundRect">
            <a:avLst>
              <a:gd fmla="val 2487" name="adj"/>
            </a:avLst>
          </a:prstGeom>
          <a:solidFill>
            <a:srgbClr val="FCFBF8"/>
          </a:solidFill>
          <a:ln cap="flat" cmpd="sng" w="25375">
            <a:solidFill>
              <a:srgbClr val="D6D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561766" y="5271195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8 kW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61766" y="5679877"/>
            <a:ext cx="306806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Peak simultaneous demand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8033244" y="5056783"/>
            <a:ext cx="3496877" cy="1139924"/>
          </a:xfrm>
          <a:prstGeom prst="roundRect">
            <a:avLst>
              <a:gd fmla="val 2487" name="adj"/>
            </a:avLst>
          </a:prstGeom>
          <a:solidFill>
            <a:srgbClr val="FCFBF8"/>
          </a:solidFill>
          <a:ln cap="flat" cmpd="sng" w="25375">
            <a:solidFill>
              <a:srgbClr val="D6D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8247650" y="5271195"/>
            <a:ext cx="306806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 Bays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247650" y="5679877"/>
            <a:ext cx="306806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Charging stations managed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661475" y="987822"/>
            <a:ext cx="1433278" cy="287139"/>
          </a:xfrm>
          <a:prstGeom prst="roundRect">
            <a:avLst>
              <a:gd fmla="val 7899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774879" y="1044476"/>
            <a:ext cx="1816055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SYSTEM DESIGN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61475" y="1350566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700"/>
              <a:buFont typeface="Alice"/>
              <a:buNone/>
            </a:pPr>
            <a:r>
              <a:rPr b="0" i="0" lang="en-US" sz="37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Proposed Solution: Three Pillars of Intelligent Control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61475" y="2815332"/>
            <a:ext cx="3496877" cy="3054846"/>
          </a:xfrm>
          <a:prstGeom prst="roundRect">
            <a:avLst>
              <a:gd fmla="val 92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50482" y="3004344"/>
            <a:ext cx="567021" cy="567035"/>
          </a:xfrm>
          <a:prstGeom prst="ellipse">
            <a:avLst/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6450" y="3160216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850482" y="3760391"/>
            <a:ext cx="31188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Autonomous Edge Control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50482" y="4169073"/>
            <a:ext cx="3118863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Dedicated ESP32 microcontrollers monitor local telemetry and execute fast cutoff/throttling decisions independent of internet latency.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347359" y="2815332"/>
            <a:ext cx="3496877" cy="3054846"/>
          </a:xfrm>
          <a:prstGeom prst="roundRect">
            <a:avLst>
              <a:gd fmla="val 92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4536366" y="3004344"/>
            <a:ext cx="567021" cy="567035"/>
          </a:xfrm>
          <a:prstGeom prst="ellipse">
            <a:avLst/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2334" y="3160216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4536366" y="3760391"/>
            <a:ext cx="31188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Predictive Edge AI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536366" y="4169073"/>
            <a:ext cx="3118863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On-device AI models predict session duration and vehicle arrival patterns, enabling proactive, fair power scheduling before congestion occurs.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033244" y="2815332"/>
            <a:ext cx="3496877" cy="3054846"/>
          </a:xfrm>
          <a:prstGeom prst="roundRect">
            <a:avLst>
              <a:gd fmla="val 92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8222251" y="3004344"/>
            <a:ext cx="567021" cy="567035"/>
          </a:xfrm>
          <a:prstGeom prst="ellipse">
            <a:avLst/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8219" y="3160216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8222251" y="3760391"/>
            <a:ext cx="31188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Centralized Telemetry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222251" y="4169073"/>
            <a:ext cx="3118863" cy="151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ThingsBoard IoT cloud platform delivers live monitoring, historical analytics, automated alarm management, and remote operator override.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661475" y="532805"/>
            <a:ext cx="1141186" cy="236438"/>
          </a:xfrm>
          <a:prstGeom prst="roundRect">
            <a:avLst>
              <a:gd fmla="val 7899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754837" y="579438"/>
            <a:ext cx="1564045" cy="143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950"/>
              <a:buFont typeface="Lora"/>
              <a:buNone/>
            </a:pPr>
            <a:r>
              <a:rPr b="0" i="0" lang="en-US" sz="9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ARCHITECTURE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61475" y="820440"/>
            <a:ext cx="10868745" cy="48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050"/>
              <a:buFont typeface="Alice"/>
              <a:buNone/>
            </a:pPr>
            <a:r>
              <a:rPr b="0" i="0" lang="en-US" sz="30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Three-Tier System Architecture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636" y="1498997"/>
            <a:ext cx="9238424" cy="422800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/>
          <p:nvPr/>
        </p:nvSpPr>
        <p:spPr>
          <a:xfrm>
            <a:off x="8243810" y="2053038"/>
            <a:ext cx="2043626" cy="25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Alice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Edge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243810" y="2381161"/>
            <a:ext cx="2252529" cy="372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ESP32 per bay, sensors, relays for control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722373" y="3349637"/>
            <a:ext cx="2043626" cy="25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Alice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Communication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695125" y="3677761"/>
            <a:ext cx="2070874" cy="558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MQTT over TCP 1883/8883, telemetry and RPC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8243810" y="4160296"/>
            <a:ext cx="2043626" cy="25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Alice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Cloud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8243810" y="4488419"/>
            <a:ext cx="2252529" cy="37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ThingsBoard, rule chains, dashboards, alarms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61475" y="5871170"/>
            <a:ext cx="1086874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00"/>
              <a:buFont typeface="Lora"/>
              <a:buNone/>
            </a:pPr>
            <a:r>
              <a:rPr b="0" i="0" lang="en-US" sz="12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architecture cleanly separates fast local control at the edge from cloud-level orchestration, with MQTT serving as the lightweight, high-speed messaging backbone between tiers.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661475" y="546298"/>
            <a:ext cx="1360255" cy="243979"/>
          </a:xfrm>
          <a:prstGeom prst="roundRect">
            <a:avLst>
              <a:gd fmla="val 7902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757814" y="594420"/>
            <a:ext cx="1777162" cy="1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000"/>
              <a:buFont typeface="Lora"/>
              <a:buNone/>
            </a:pPr>
            <a:r>
              <a:rPr b="0" i="0" lang="en-US" sz="10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661475" y="844848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150"/>
              <a:buFont typeface="Alice"/>
              <a:buNone/>
            </a:pPr>
            <a:r>
              <a:rPr b="0" i="0" lang="en-US" sz="31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Hardware &amp; Software Stack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371" y="1705273"/>
            <a:ext cx="4452628" cy="445273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6298149" y="2759770"/>
            <a:ext cx="5238421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Key Design Choices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298149" y="3147318"/>
            <a:ext cx="5238421" cy="2044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Char char="•"/>
            </a:pPr>
            <a:r>
              <a:rPr b="1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ESP32 NodeMCU</a:t>
            </a: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selected for dual-core processing, Wi-Fi integration, and low power profile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Char char="•"/>
            </a:pPr>
            <a:r>
              <a:rPr b="1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FreeRTOS</a:t>
            </a: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enables concurrent sensor polling, MQTT publishing, and AI inference tasks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Char char="•"/>
            </a:pPr>
            <a:r>
              <a:rPr b="1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MQTT</a:t>
            </a: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chosen over HTTP for minimal overhead and publish/subscribe decoupling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Char char="•"/>
            </a:pPr>
            <a:r>
              <a:rPr b="1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ThingsBoard</a:t>
            </a: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provides out-of-the-box rule engine, widget library, and device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661475" y="798810"/>
            <a:ext cx="1477727" cy="287139"/>
          </a:xfrm>
          <a:prstGeom prst="roundRect">
            <a:avLst>
              <a:gd fmla="val 7899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774879" y="855464"/>
            <a:ext cx="1860503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50"/>
              <a:buFont typeface="Lora"/>
              <a:buNone/>
            </a:pPr>
            <a:r>
              <a:rPr b="0" i="0" lang="en-US" sz="11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CONTROL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661475" y="1161554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700"/>
              <a:buFont typeface="Alice"/>
              <a:buNone/>
            </a:pPr>
            <a:r>
              <a:rPr b="0" i="0" lang="en-US" sz="37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Dynamic Load Optimization State Machine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035671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850482" y="2980730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ALLOW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50482" y="3389412"/>
            <a:ext cx="324486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Full-rate charging enabled. Total station load is well below the 5 kW limit.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357" y="2035671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/>
          <p:nvPr/>
        </p:nvSpPr>
        <p:spPr>
          <a:xfrm>
            <a:off x="4473364" y="2980730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THROTTLE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473364" y="3389412"/>
            <a:ext cx="3244868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Charging current dynamically reduced via PWM duty control as aggregated demand approaches capacity.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39" y="2035671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096246" y="2980730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DEFER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8096246" y="3389412"/>
            <a:ext cx="324486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Incoming vehicles queued; non-critical bays suspended during peak stress until headroom clears.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661475" y="5000724"/>
            <a:ext cx="10868745" cy="1058366"/>
          </a:xfrm>
          <a:prstGeom prst="roundRect">
            <a:avLst>
              <a:gd fmla="val 2679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482" y="5268416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9"/>
          <p:cNvSpPr/>
          <p:nvPr/>
        </p:nvSpPr>
        <p:spPr>
          <a:xfrm>
            <a:off x="1275723" y="5236964"/>
            <a:ext cx="1006549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Lora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Fail-Safe Protocol:</a:t>
            </a:r>
            <a:r>
              <a:rPr b="0" i="0" lang="en-US" sz="145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Automatic fallback to local autonomous load limits is triggered if cloud connectivity is lost, ensuring uninterrupted grid protection.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661475" y="646212"/>
            <a:ext cx="1063400" cy="272752"/>
          </a:xfrm>
          <a:prstGeom prst="roundRect">
            <a:avLst>
              <a:gd fmla="val 7900" name="adj"/>
            </a:avLst>
          </a:prstGeom>
          <a:noFill/>
          <a:ln cap="flat" cmpd="sng" w="9525">
            <a:solidFill>
              <a:srgbClr val="1B5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769125" y="699988"/>
            <a:ext cx="1457685" cy="16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5F39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1B5F39"/>
                </a:solidFill>
                <a:latin typeface="Lora"/>
                <a:ea typeface="Lora"/>
                <a:cs typeface="Lora"/>
                <a:sym typeface="Lora"/>
              </a:rPr>
              <a:t>DATA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661475" y="987127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500"/>
              <a:buFont typeface="Alice"/>
              <a:buNone/>
            </a:pPr>
            <a:r>
              <a:rPr b="0" i="0" lang="en-US" sz="35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Telemetry &amp; Sensing Metrics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61475" y="1974751"/>
            <a:ext cx="521530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Monitored Electrical Variables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447131"/>
            <a:ext cx="2522375" cy="17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/>
          <p:nvPr/>
        </p:nvSpPr>
        <p:spPr>
          <a:xfrm>
            <a:off x="967954" y="2652018"/>
            <a:ext cx="201101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Line Voltage (V)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967954" y="3103066"/>
            <a:ext cx="2011015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Per-phase RMS measurement for grid health assessment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4403" y="2447131"/>
            <a:ext cx="2522375" cy="17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0"/>
          <p:cNvSpPr/>
          <p:nvPr/>
        </p:nvSpPr>
        <p:spPr>
          <a:xfrm>
            <a:off x="3660882" y="2652018"/>
            <a:ext cx="201101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Load Current (A)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3660882" y="3103066"/>
            <a:ext cx="2011015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Real-time per-bay current for overload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318794"/>
            <a:ext cx="2522375" cy="17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967954" y="4523680"/>
            <a:ext cx="201101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Active Power (kW)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967954" y="4974729"/>
            <a:ext cx="2011015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Aggregated station demand for state machine decisions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4403" y="4318794"/>
            <a:ext cx="2522375" cy="17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/>
          <p:nvPr/>
        </p:nvSpPr>
        <p:spPr>
          <a:xfrm>
            <a:off x="3660882" y="4523680"/>
            <a:ext cx="201101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Total Energy (kWh)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3660882" y="4974729"/>
            <a:ext cx="2011015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Cumulative consumption logged for billing and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321267" y="1974751"/>
            <a:ext cx="521530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Edge-to-Cloud Data Pipeline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321267" y="2425799"/>
            <a:ext cx="5215303" cy="1400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Raw sensor data undergoes edge filtering and local aggregation before structured JSON MQTT packets are transmitted. Continuous monitoring loops ensure </a:t>
            </a:r>
            <a:r>
              <a:rPr b="1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sub-second response times</a:t>
            </a: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during sudden over-current events, with cloud dashboards reflecting near-real-time state.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661475" y="629642"/>
            <a:ext cx="1169859" cy="215305"/>
          </a:xfrm>
          <a:prstGeom prst="roundRect">
            <a:avLst>
              <a:gd fmla="val 7901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746503" y="672108"/>
            <a:ext cx="1609387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850"/>
              <a:buFont typeface="Lora"/>
              <a:buNone/>
            </a:pPr>
            <a:r>
              <a:rPr b="0" i="0" lang="en-US" sz="8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DEMONSTRATION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661475" y="887413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750"/>
              <a:buFont typeface="Alice"/>
              <a:buNone/>
            </a:pPr>
            <a:r>
              <a:rPr b="0" i="0" lang="en-US" sz="27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Live System Walkthrough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226" y="2621855"/>
            <a:ext cx="4366508" cy="247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"/>
          <p:cNvSpPr/>
          <p:nvPr/>
        </p:nvSpPr>
        <p:spPr>
          <a:xfrm>
            <a:off x="6835802" y="1596132"/>
            <a:ext cx="470066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Demonstration Sequence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6835802" y="1937147"/>
            <a:ext cx="283461" cy="17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Alice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835802" y="2159000"/>
            <a:ext cx="4700668" cy="19050"/>
          </a:xfrm>
          <a:prstGeom prst="rect">
            <a:avLst/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6835802" y="2267942"/>
            <a:ext cx="470066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Bay Initialization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6835802" y="2595662"/>
            <a:ext cx="470066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Real-time bring-up of multiple charging bays with sensor calibration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6835802" y="3006626"/>
            <a:ext cx="283461" cy="17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Alice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835802" y="3228479"/>
            <a:ext cx="4700668" cy="19050"/>
          </a:xfrm>
          <a:prstGeom prst="rect">
            <a:avLst/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6835802" y="3337421"/>
            <a:ext cx="470066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Peak Load Trigger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6835802" y="3665141"/>
            <a:ext cx="470066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Simulated simultaneous demand exceeding the 5 kW grid limit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835802" y="4076105"/>
            <a:ext cx="283461" cy="17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Alice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835802" y="4297958"/>
            <a:ext cx="4700668" cy="19050"/>
          </a:xfrm>
          <a:prstGeom prst="rect">
            <a:avLst/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6835802" y="4406900"/>
            <a:ext cx="470066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Algorithm Execution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6835802" y="4734620"/>
            <a:ext cx="470066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Live THROTTLE and DEFER state transitions observed on 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835802" y="5145584"/>
            <a:ext cx="283461" cy="17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Alice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6835802" y="5367437"/>
            <a:ext cx="4700668" cy="19050"/>
          </a:xfrm>
          <a:prstGeom prst="rect">
            <a:avLst/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6835802" y="5476379"/>
            <a:ext cx="470066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Alice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Cloud Dashboard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835802" y="5804098"/>
            <a:ext cx="470066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ThingsBoard graphs updating and alarms triggering in real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/>
          <p:nvPr/>
        </p:nvSpPr>
        <p:spPr>
          <a:xfrm>
            <a:off x="661475" y="703957"/>
            <a:ext cx="744519" cy="243979"/>
          </a:xfrm>
          <a:prstGeom prst="roundRect">
            <a:avLst>
              <a:gd fmla="val 7902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757814" y="752078"/>
            <a:ext cx="1161426" cy="1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000"/>
              <a:buFont typeface="Lora"/>
              <a:buNone/>
            </a:pPr>
            <a:r>
              <a:rPr b="0" i="0" lang="en-US" sz="10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661475" y="1002506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150"/>
              <a:buFont typeface="Alice"/>
              <a:buNone/>
            </a:pPr>
            <a:r>
              <a:rPr b="0" i="0" lang="en-US" sz="31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Experimental Results &amp; Observations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62606" y="1789609"/>
            <a:ext cx="4546685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5 kW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661475" y="2502495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Peak Load Cap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61475" y="2835374"/>
            <a:ext cx="5349047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Total station load constrained below threshold despite 8 kW simultaneous demand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6582305" y="1789609"/>
            <a:ext cx="4546685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0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6181173" y="2502495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Breaker Trips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6181173" y="2835374"/>
            <a:ext cx="5349047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Zero over-current faults recorded during rapid multi-vehicle connection cycles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1062606" y="3664148"/>
            <a:ext cx="4546685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&lt;1s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661475" y="4377035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Response Time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661475" y="4709914"/>
            <a:ext cx="5349047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Sub-second edge response during sudden over-current events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6582305" y="3664148"/>
            <a:ext cx="4546685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100%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6181173" y="4377035"/>
            <a:ext cx="53490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Offline Robustness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6181173" y="4709914"/>
            <a:ext cx="5349047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Edge controllers maintained valid load limits during simulated Wi-Fi disconnects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61475" y="5338961"/>
            <a:ext cx="10868745" cy="814983"/>
          </a:xfrm>
          <a:prstGeom prst="roundRect">
            <a:avLst>
              <a:gd fmla="val 2957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06" y="5533727"/>
            <a:ext cx="200814" cy="160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/>
          <p:nvPr/>
        </p:nvSpPr>
        <p:spPr>
          <a:xfrm>
            <a:off x="1183551" y="5515570"/>
            <a:ext cx="10186038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system successfully demonstrated grid-safe operation under worst-case concurrent demand scenarios with no manual intervention required.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661475" y="574576"/>
            <a:ext cx="1177102" cy="272752"/>
          </a:xfrm>
          <a:prstGeom prst="roundRect">
            <a:avLst>
              <a:gd fmla="val 7900" name="adj"/>
            </a:avLst>
          </a:prstGeom>
          <a:solidFill>
            <a:srgbClr val="D7F4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769125" y="628352"/>
            <a:ext cx="1571387" cy="165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100"/>
              <a:buFont typeface="Lora"/>
              <a:buNone/>
            </a:pPr>
            <a:r>
              <a:rPr b="0" i="0" lang="en-US" sz="11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661475" y="915491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500"/>
              <a:buFont typeface="Alice"/>
              <a:buNone/>
            </a:pPr>
            <a:r>
              <a:rPr b="0" i="0" lang="en-US" sz="35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Summary &amp; Future Scope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32097" y="1732558"/>
            <a:ext cx="5474059" cy="4550767"/>
          </a:xfrm>
          <a:prstGeom prst="roundRect">
            <a:avLst>
              <a:gd fmla="val 592" name="adj"/>
            </a:avLst>
          </a:prstGeom>
          <a:solidFill>
            <a:srgbClr val="1B5F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711579" y="1903115"/>
            <a:ext cx="511509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Project Summary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711579" y="2354163"/>
            <a:ext cx="5115095" cy="1400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scalable, cost-effective smart EV charging optimizer was engineered, integrating ESP32 microcontrollers, Edge AI prediction, and ThingsBoard IoT cloud services — achieving autonomous, grid-safe load management without proprietary hardware.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6321267" y="1903115"/>
            <a:ext cx="5215303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Future Enhancements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8635" y="2380952"/>
            <a:ext cx="269273" cy="269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/>
          <p:nvPr/>
        </p:nvSpPr>
        <p:spPr>
          <a:xfrm>
            <a:off x="6904758" y="2375495"/>
            <a:ext cx="463181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OCPP Compliance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904758" y="2826544"/>
            <a:ext cx="463181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 Open Charge Point Protocol for interoperability with commercial chargers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8635" y="3733304"/>
            <a:ext cx="269273" cy="269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/>
          <p:nvPr/>
        </p:nvSpPr>
        <p:spPr>
          <a:xfrm>
            <a:off x="6904758" y="3727847"/>
            <a:ext cx="463181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Tariff Optimization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6904758" y="4178895"/>
            <a:ext cx="463181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Dynamic time-of-day utility pricing integration for cost-aware scheduling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8635" y="5085655"/>
            <a:ext cx="269273" cy="269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/>
          <p:nvPr/>
        </p:nvSpPr>
        <p:spPr>
          <a:xfrm>
            <a:off x="6904758" y="5080198"/>
            <a:ext cx="463181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Renewable Integration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904758" y="5531247"/>
            <a:ext cx="463181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Solar PV generation and Battery Energy Storage (BESS) buffer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